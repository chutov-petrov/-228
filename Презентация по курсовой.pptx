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4500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1816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ПРОФЕССИОНАЛЬНОЕ ОБРАЗОВАТЕЛЬНОЕ ЧАСТНОЕ УЧРЕЖДЕНИЕ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«ИЖЕВСКИЙ ТЕХНИКУМ ЭКОНОМИКИ, УПРАВЛЕНИЯ И ПРАВА УДМУРТПОТРЕБСОЮЗА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71450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Сопровождение информационной системы парка аттракциона 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Студент: </a:t>
            </a:r>
            <a:r>
              <a:rPr lang="en-US" sz="2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Чутов Кирилл Денисович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5417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Специальность: </a:t>
            </a:r>
            <a:r>
              <a:rPr lang="en-US" sz="20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09.02.07 Информационные системы и программирование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2367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ИСП 34-9</a:t>
            </a:r>
            <a:r>
              <a:rPr lang="ru-RU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/>
              <a:t>Курс</a:t>
            </a:r>
            <a:r>
              <a:rPr lang="en-US" sz="2000" dirty="0"/>
              <a:t>: 3   </a:t>
            </a:r>
            <a:r>
              <a:rPr lang="ru-RU" sz="2000" dirty="0"/>
              <a:t>  </a:t>
            </a:r>
            <a:r>
              <a:rPr lang="en-US" sz="2000" dirty="0" err="1"/>
              <a:t>Форма</a:t>
            </a:r>
            <a:r>
              <a:rPr lang="en-US" sz="2000" dirty="0"/>
              <a:t> </a:t>
            </a:r>
            <a:r>
              <a:rPr lang="en-US" sz="2000" dirty="0" err="1"/>
              <a:t>обучения</a:t>
            </a:r>
            <a:r>
              <a:rPr lang="en-US" sz="2000" dirty="0"/>
              <a:t>: </a:t>
            </a:r>
            <a:r>
              <a:rPr lang="en-US" sz="2000" dirty="0" err="1"/>
              <a:t>Очная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Ижевск · ИТЭУП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ЦЕЛЬ РАБОТЫ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78638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Нет единой базы данных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078992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ведётся в разрозненных таблицах Excel, данные не связаны между собой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7739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Ручное ведение журналов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" y="2066544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Журналы ТО заполняются вручную, контроль сроков обслуживания затруднён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24912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2761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Задержки в отчётности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" y="3054096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Сводные отчёты формируются вручную — высокий риск ошибок и потеря времени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712464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12464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7490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Нет контроля оборудования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" y="4041648"/>
            <a:ext cx="3749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оперативно отследить статус и техсостояние всех аттракционов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786384"/>
            <a:ext cx="4206240" cy="181965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36592" y="8458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КУРСОВОЙ РАБОТЫ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800600" y="1261872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АИС сопровождения парка аттракционов для комплексной автоматизации основных бизнес-процессов предприятия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2780755"/>
            <a:ext cx="4206240" cy="186341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29260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3273552"/>
            <a:ext cx="146304" cy="14630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3219177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существующих аналогов АИС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28032" y="3566160"/>
            <a:ext cx="146304" cy="14630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3483669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Характеристика предприятия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28032" y="3858768"/>
            <a:ext cx="146304" cy="14630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780555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технического задания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28032" y="4151376"/>
            <a:ext cx="146304" cy="14630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41010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Проектирование модели БД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28032" y="4443984"/>
            <a:ext cx="146304" cy="146304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7488" y="4388141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по сопровождению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2000" b="1" kern="0" spc="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анализ </a:t>
            </a:r>
            <a:r>
              <a:rPr lang="ru-RU" sz="2000" b="1" kern="0" spc="100"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аналогов</a:t>
            </a:r>
            <a:r>
              <a:rPr lang="ru-RU" sz="20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</a:t>
            </a: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СУЩЕСТВУЮЩИХ АНАЛОГОВ АИС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738980"/>
              </p:ext>
            </p:extLst>
          </p:nvPr>
        </p:nvGraphicFramePr>
        <p:xfrm>
          <a:off x="365760" y="731520"/>
          <a:ext cx="8412480" cy="371246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Критерий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Парк-Менеджер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Semnox Parafait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ROLLER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Разраб. АИС</a:t>
                      </a: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Управление аттракционами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Модуль ТО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Отчётность и аналитика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Работа без Интернет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-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Стоимость внедрения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Средняя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Высокая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Высокая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Низкая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Русский интерфейс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Частично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dirty="0">
                          <a:solidFill>
                            <a:schemeClr val="tx1"/>
                          </a:solidFill>
                        </a:rPr>
                        <a:t>+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3A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СИСТЕМЫ · АВТОРИЗАЦИЯ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3017520" cy="393192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3566160" y="868680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566160" y="868680"/>
            <a:ext cx="64008" cy="8046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98164" y="9464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70332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доступ: справочники, пользователи, все модули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566160" y="1828800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828800"/>
            <a:ext cx="64008" cy="80467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30168" y="18836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0332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Отчёты, расписание, управление персоналом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566160" y="2788920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66160" y="2788920"/>
            <a:ext cx="64008" cy="80467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30168" y="28712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0332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билетов, просмотр расписания работы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566160" y="3749040"/>
            <a:ext cx="5303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566160" y="3749040"/>
            <a:ext cx="64008" cy="804672"/>
          </a:xfrm>
          <a:prstGeom prst="rect">
            <a:avLst/>
          </a:prstGeom>
          <a:solidFill>
            <a:srgbClr val="E89A1E"/>
          </a:solidFill>
          <a:ln w="12700">
            <a:solidFill>
              <a:srgbClr val="E89A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66744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9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703320" y="4114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ТО, регистрация неисправностей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 · ДАШБОРД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379476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Сводная информация о работе парка в реальном времени: аттракционы, продажи, выручка, статусы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· УПРАВЛЕНИЕ АТТРАКЦИОНАМИ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5029200" cy="237744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200400"/>
            <a:ext cx="5029200" cy="155448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5577840" y="777240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5577840" y="777240"/>
            <a:ext cx="64008" cy="71323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715000" y="822960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28 аттракционов с поиском и фильтрацией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577840" y="1618488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577840" y="1618488"/>
            <a:ext cx="64008" cy="71323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715000" y="1664208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Типы: Детский, Семейный, Экстремальный, Интерактивный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577840" y="2459736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577840" y="2459736"/>
            <a:ext cx="64008" cy="71323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2505456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Статусы: работает / на обслуживании / неисправен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577840" y="3300984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577840" y="3300984"/>
            <a:ext cx="64008" cy="71323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3346704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Закрепление ответственного техника за аттракционом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577840" y="4142232"/>
            <a:ext cx="3291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77840" y="4142232"/>
            <a:ext cx="64008" cy="713232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15000" y="4187952"/>
            <a:ext cx="3063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Добавление, редактирование, удаление записей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· ПРОДАЖА БИЛЕТОВ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5029200" cy="292608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731520"/>
            <a:ext cx="3474720" cy="406908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6" name="Text 2"/>
          <p:cNvSpPr/>
          <p:nvPr/>
        </p:nvSpPr>
        <p:spPr>
          <a:xfrm>
            <a:off x="365760" y="37490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продаж с фильтрацией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0" y="48463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оформления билета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· ТЕХНИЧЕСКОЕ ОБСЛУЖИВАНИЕ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338328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274320" y="4206240"/>
            <a:ext cx="1993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4206240"/>
            <a:ext cx="6400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Плановое ТО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450592" y="4206240"/>
            <a:ext cx="1993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450592" y="4206240"/>
            <a:ext cx="6400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87752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Внеплановый ремонт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26864" y="4206240"/>
            <a:ext cx="1993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26864" y="4206240"/>
            <a:ext cx="6400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64024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Сезонное обслуживание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803136" y="4206240"/>
            <a:ext cx="19933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803136" y="4206240"/>
            <a:ext cx="64008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940296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· УПРАВЛЕНИЕ ПЕРСОНАЛОМ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5760720" cy="374904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217920" y="77724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4045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17920" y="777240"/>
            <a:ext cx="64008" cy="8229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55080" y="822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55080" y="11155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 ко всем функциям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1737360"/>
            <a:ext cx="64008" cy="82296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55080" y="20756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Отчёты, персонал, расписание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217920" y="269748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E5E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217920" y="2697480"/>
            <a:ext cx="64008" cy="822960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2743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55080" y="303580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Продажа билетов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17920" y="3657600"/>
            <a:ext cx="26517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A1E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17920" y="3657600"/>
            <a:ext cx="64008" cy="822960"/>
          </a:xfrm>
          <a:prstGeom prst="rect">
            <a:avLst/>
          </a:prstGeom>
          <a:solidFill>
            <a:srgbClr val="E89A1E"/>
          </a:solidFill>
          <a:ln w="12700">
            <a:solidFill>
              <a:srgbClr val="E89A1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Техник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3995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ТО, неисправности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 · ОТЧЁТЫ И АНАЛИТИКА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31520"/>
            <a:ext cx="8595360" cy="3794760"/>
          </a:xfrm>
          <a:prstGeom prst="rect">
            <a:avLst/>
          </a:prstGeom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по аттракционам · Популярность · Виды ТО · Состояние парка — всё в одном экране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БАЗА ДАННЫХ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64008" cy="10058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Web-сервер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822960"/>
            <a:ext cx="64008" cy="1005840"/>
          </a:xfrm>
          <a:prstGeom prst="rect">
            <a:avLst/>
          </a:prstGeom>
          <a:solidFill>
            <a:srgbClr val="2D9E5E"/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144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СУБД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11680"/>
            <a:ext cx="64008" cy="1005840"/>
          </a:xfrm>
          <a:prstGeom prst="rect">
            <a:avLst/>
          </a:prstGeom>
          <a:solidFill>
            <a:srgbClr val="E89A1E"/>
          </a:solidFill>
          <a:ln w="12700">
            <a:solidFill>
              <a:srgbClr val="E89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интерфейс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01168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011680"/>
            <a:ext cx="64008" cy="10058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03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Windows 10+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ОС, автономная работа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таблицы БД: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" y="367588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Аттракционы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3675888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0" y="367588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Сотрудники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675888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675888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Билеты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297680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429768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Техобслуживание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4297680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0" y="429768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4297680"/>
            <a:ext cx="26060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4297680"/>
            <a:ext cx="2606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1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ПО СОПРОВОЖДЕНИЮ АИС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2D9E5E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1417320" cy="822960"/>
          </a:xfrm>
          <a:prstGeom prst="rect">
            <a:avLst/>
          </a:prstGeom>
          <a:solidFill>
            <a:srgbClr val="2D9E5E">
              <a:alpha val="12000"/>
            </a:srgbClr>
          </a:solidFill>
          <a:ln w="12700">
            <a:solidFill>
              <a:srgbClr val="2D9E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777240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01952" y="82296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работоспособности · Контроль диска · Наличие резервных копий БД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7B6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37360"/>
            <a:ext cx="1417320" cy="822960"/>
          </a:xfrm>
          <a:prstGeom prst="rect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737360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01952" y="178308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 журналов ошибок · Проверка актуальности статусов аттракционов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A1E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97480"/>
            <a:ext cx="1417320" cy="822960"/>
          </a:xfrm>
          <a:prstGeom prst="rect">
            <a:avLst/>
          </a:prstGeom>
          <a:solidFill>
            <a:srgbClr val="E89A1E">
              <a:alpha val="12000"/>
            </a:srgbClr>
          </a:solidFill>
          <a:ln w="12700">
            <a:solidFill>
              <a:srgbClr val="E89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697480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01952" y="274320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зависимостей Python · Анализ производительности · Очистка старых данных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65760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4045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657600"/>
            <a:ext cx="1417320" cy="822960"/>
          </a:xfrm>
          <a:prstGeom prst="rect">
            <a:avLst/>
          </a:prstGeom>
          <a:solidFill>
            <a:srgbClr val="D64045">
              <a:alpha val="12000"/>
            </a:srgbClr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657600"/>
            <a:ext cx="13807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Ежеквартально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01952" y="3703320"/>
            <a:ext cx="6675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учётных записей · Смена паролей · Проверка безопасности системы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АИС Парка Аттракционов · 2026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30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22960"/>
            <a:ext cx="594360" cy="6858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8686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Проведён анализ 3 аналогов АИС, выявлены ключевые недостатки для среднего парка аттракционов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27632"/>
            <a:ext cx="594360" cy="6858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27632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167335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Разработано ТЗ, спроектирована реляционная БД из 6 таблиц (SQLite / PostgreSQL)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32304"/>
            <a:ext cx="594360" cy="6858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32304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2478024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5 модулей: аттракционы, билеты, техобслуживание, сотрудники, отчётность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23697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36976"/>
            <a:ext cx="594360" cy="6858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36976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" y="328269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Разработаны рекомендации по сопровождению: ежедневные, еженедельные, ежемесячные задачи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CE9"/>
            </a:solidFill>
            <a:prstDash val="solid"/>
          </a:ln>
          <a:effectLst>
            <a:outerShdw blurRad="76200" dist="25400" dir="8100000" algn="bl" rotWithShape="0">
              <a:srgbClr val="7BAAC4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41648"/>
            <a:ext cx="594360" cy="685800"/>
          </a:xfrm>
          <a:prstGeom prst="rect">
            <a:avLst/>
          </a:prstGeom>
          <a:solidFill>
            <a:srgbClr val="0077B6">
              <a:alpha val="20000"/>
            </a:srgbClr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41648"/>
            <a:ext cx="594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" y="4087368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готова к внедрению в ООО «АттракционПарк» для повышения эффективности управления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573</Words>
  <Application>Microsoft Office PowerPoint</Application>
  <PresentationFormat>Экран (16:9)</PresentationFormat>
  <Paragraphs>154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АИС Парка Аттракционов</dc:title>
  <dc:subject>PptxGenJS Presentation</dc:subject>
  <dc:creator>PptxGenJS</dc:creator>
  <cp:lastModifiedBy>Семёнов Егор</cp:lastModifiedBy>
  <cp:revision>5</cp:revision>
  <dcterms:created xsi:type="dcterms:W3CDTF">2026-05-28T21:39:16Z</dcterms:created>
  <dcterms:modified xsi:type="dcterms:W3CDTF">2026-05-29T09:29:54Z</dcterms:modified>
</cp:coreProperties>
</file>