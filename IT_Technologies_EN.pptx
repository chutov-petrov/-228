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Median Annual Salary (thousands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Dev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Junior</c:v>
                  </c:pt>
                  <c:pt idx="1">
                    <c:v>Middle</c:v>
                  </c:pt>
                  <c:pt idx="2">
                    <c:v>Senior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115</c:v>
                </c:pt>
                <c:pt idx="2">
                  <c:v>160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JavaScript Dev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Junior</c:v>
                  </c:pt>
                  <c:pt idx="1">
                    <c:v>Middle</c:v>
                  </c:pt>
                  <c:pt idx="2">
                    <c:v>Senior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110</c:v>
                </c:pt>
                <c:pt idx="2">
                  <c:v>150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Scientist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Junior</c:v>
                  </c:pt>
                  <c:pt idx="1">
                    <c:v>Middle</c:v>
                  </c:pt>
                  <c:pt idx="2">
                    <c:v>Senior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</c:v>
                </c:pt>
                <c:pt idx="1">
                  <c:v>130</c:v>
                </c:pt>
                <c:pt idx="2">
                  <c:v>180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DevOps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Junior</c:v>
                  </c:pt>
                  <c:pt idx="1">
                    <c:v>Middle</c:v>
                  </c:pt>
                  <c:pt idx="2">
                    <c:v>Senior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80</c:v>
                </c:pt>
                <c:pt idx="1">
                  <c:v>125</c:v>
                </c:pt>
                <c:pt idx="2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01168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822960"/>
            <a:ext cx="1463040" cy="3200400"/>
          </a:xfrm>
          <a:prstGeom prst="rect">
            <a:avLst/>
          </a:prstGeom>
          <a:solidFill>
            <a:srgbClr val="1D4ED8">
              <a:alpha val="60000"/>
            </a:srgbClr>
          </a:solidFill>
          <a:ln w="12700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91440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42632" y="91440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90104" y="91440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37576" y="91440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55448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155448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90104" y="155448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37576" y="155448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219456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2632" y="219456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0104" y="219456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7576" y="219456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283464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42632" y="283464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0104" y="283464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37576" y="283464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347472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2632" y="347472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0104" y="347472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37576" y="347472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914400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Career of the Present and Future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the engine of the digital 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23774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(IT) is a set of methods, tools and processes for collecting, storing, processing and transmitting information using computers and telecommunications.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292608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9875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66560" y="9875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 alone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783080"/>
            <a:ext cx="292608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181051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66560" y="1810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292608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26334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6334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growth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 years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programming, networking, databases, cybersecurity, AI and much more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healthcare, business, education, science, government and entertainment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in-demand and highest-paying fields in the world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Areas of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1737360"/>
          </a:xfrm>
          <a:prstGeom prst="rect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0604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0584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apps,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&amp; games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06040" cy="173736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6060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00584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606040" cy="1737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05840"/>
            <a:ext cx="26060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00584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systems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cyberattacks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06040" cy="173736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260604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97180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&amp; Cloud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Cloud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606040" cy="173736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971800"/>
            <a:ext cx="260604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297180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2971800"/>
            <a:ext cx="2606040" cy="173736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971800"/>
            <a:ext cx="26060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297180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IT Specialists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62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website and app user interfaces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972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$70–130K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362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server-side logic and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35240" y="109728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0972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6596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368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data and builds ML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0312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103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$90–160K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96596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96596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368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CI/CD, cloud and containers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210312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2103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$90–155K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7180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Analyst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3741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IT solutions for business needs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10896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$70–130K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97180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7180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Spec.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33741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company systems and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35240" y="310896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97764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 Designer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379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intuitive user experiences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411480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114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$60–120K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977640"/>
            <a:ext cx="416052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977640"/>
            <a:ext cx="109728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Manager / PM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92040" y="4379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teams and manages IT projects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35240" y="411480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114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$90–180K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Programming Languages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46304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65960" y="1078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Data Science, automation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170432"/>
            <a:ext cx="25603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170432"/>
            <a:ext cx="243230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11155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1463040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frontend &amp; backend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2304288" cy="2011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7739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1463040" cy="530352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2257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23957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systems, Android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487168"/>
            <a:ext cx="25603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487168"/>
            <a:ext cx="1920240" cy="201168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432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1463040" cy="5303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8094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65960" y="30540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(Unity), Windows applications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145536"/>
            <a:ext cx="25603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145536"/>
            <a:ext cx="1664208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3090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39312"/>
            <a:ext cx="146304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393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C/C++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965960" y="37124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software, games, embedded systems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803904"/>
            <a:ext cx="25603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803904"/>
            <a:ext cx="1536192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37490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1463040" cy="530352"/>
          </a:xfrm>
          <a:prstGeom prst="rect">
            <a:avLst/>
          </a:prstGeom>
          <a:solidFill>
            <a:srgbClr val="00ACD7"/>
          </a:solidFill>
          <a:ln w="12700">
            <a:solidFill>
              <a:srgbClr val="00AC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976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965960" y="4370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services, microservices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462272"/>
            <a:ext cx="256032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4462272"/>
            <a:ext cx="1408176" cy="201168"/>
          </a:xfrm>
          <a:prstGeom prst="rect">
            <a:avLst/>
          </a:prstGeom>
          <a:solidFill>
            <a:srgbClr val="00ACD7"/>
          </a:solidFill>
          <a:ln w="12700">
            <a:solidFill>
              <a:srgbClr val="00AC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44074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640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Essential Programs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IntelliJ IDEA,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PyCharm, Sublime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MySQL,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Redis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E84D31"/>
          </a:solidFill>
          <a:ln w="12700">
            <a:solidFill>
              <a:srgbClr val="E84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60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GitHub, GitLab,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 Cloud,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Azure, DigitalOcean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Helm, Podman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Selenium, Postman,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JUnit, Jest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 People Become IT Specialists?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41248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/ College Degree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264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in Computer Science, Software Engineering, or Applied Mathematics. Duration: 4–5 years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8503920" cy="84124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84248"/>
            <a:ext cx="64008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8424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/ Vocational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4048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Associate's degree in Information Systems or Programming. Duration: 2–3 years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8503920" cy="84124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62656"/>
            <a:ext cx="64008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6265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008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Bootcamps &amp; Courses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Udemy, freeCodeCamp, Codecademy, Pluralsight. Duration: 6–18 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8503920" cy="841248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41064"/>
            <a:ext cx="640080" cy="841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4106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86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Self-Learning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3616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YouTube, books, open-source projects, hackathons, LeetCode. Flexible pace.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Popular Learning Platforms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freeCodeCamp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14984"/>
            <a:ext cx="1005840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14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web development, algorithms, ML projects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1014984"/>
            <a:ext cx="1005840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014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Paid/Free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3990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from top universities, certificates &amp; degrees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1605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4160520" cy="347472"/>
          </a:xfrm>
          <a:prstGeom prst="rect">
            <a:avLst/>
          </a:prstGeom>
          <a:solidFill>
            <a:srgbClr val="A435F0"/>
          </a:solidFill>
          <a:ln w="12700">
            <a:solidFill>
              <a:srgbClr val="A43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Udemy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340864"/>
            <a:ext cx="1005840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340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724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courses on any IT topic, lifetime access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1605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8600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Codecademy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26680" y="2340864"/>
            <a:ext cx="1005840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340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2724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coding for beginners: Python, JS, SQL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41605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11880"/>
            <a:ext cx="41605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Pluralsight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3666744"/>
            <a:ext cx="1005840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666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4050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IT &amp; dev skills, assessments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416052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11880"/>
            <a:ext cx="41605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OpenCourseWare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26680" y="3666744"/>
            <a:ext cx="1005840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26680" y="3666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4050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computer science courses from MIT faculty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Roadmap: Your Path into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54864" cy="3474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97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060704"/>
            <a:ext cx="5943600" cy="4572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060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direction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097280"/>
            <a:ext cx="13716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16916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1655064"/>
            <a:ext cx="5943600" cy="457200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1655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fundamentals (algorithms, databases)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691640"/>
            <a:ext cx="13716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286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2249424"/>
            <a:ext cx="5943600" cy="4572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2494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your first programming language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286000"/>
            <a:ext cx="13716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2880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2843784"/>
            <a:ext cx="5943600" cy="45720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28437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course or enroll in a degree programme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0" y="2880360"/>
            <a:ext cx="137160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4–18 mos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34747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71600" y="3438144"/>
            <a:ext cx="594360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34381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personal project (pet project)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3474720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474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" y="40690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371600" y="4032504"/>
            <a:ext cx="5943600" cy="45720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4032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 internship or first job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06640" y="4069080"/>
            <a:ext cx="13716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— structure and styling of pages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logic and interactivity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Angular — modern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typed JavaScript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/ Zeplin — working with design mockups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960120"/>
            <a:ext cx="3931920" cy="3931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60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5087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(Django, FastAPI) — popular choice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— fast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— enterprise 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 — databases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GraphQL — API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Science &amp; Artificial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201168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201168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05840"/>
            <a:ext cx="196596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1965960" cy="201168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05840"/>
            <a:ext cx="19659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508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processing, ChatGPT, translation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965960" cy="20116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05840"/>
            <a:ext cx="19659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detection, medical imaging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tools for a Data Scientist: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65760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/ Pandas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65760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 / PyTorch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416052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/ Power BI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8463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914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cost the global economy $8 trillion per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48463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84248"/>
            <a:ext cx="914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attack occurs somewhere in the world every 39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48463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51176"/>
            <a:ext cx="914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51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3.5 million cybersecurity positions remain unfilled globally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914400"/>
            <a:ext cx="329184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15000" y="1463040"/>
            <a:ext cx="30175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463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Tester (Ethical Hacker)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1965960"/>
            <a:ext cx="30175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65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2468880"/>
            <a:ext cx="30175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468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2971800"/>
            <a:ext cx="30175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Specialist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3474720"/>
            <a:ext cx="30175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474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3977640"/>
            <a:ext cx="30175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977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246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Linux, Wireshark, Metasploit, Nmap, Burp Suite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Technologies &amp; DevOps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78308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14401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1005840"/>
            <a:ext cx="178308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4401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05840"/>
            <a:ext cx="178308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4401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005840"/>
            <a:ext cx="178308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05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178308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Release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48840" y="272034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286000"/>
            <a:ext cx="178308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1960" y="272034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286000"/>
            <a:ext cx="178308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5080" y="272034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2286000"/>
            <a:ext cx="1783080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DevOps tools: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Kubernetes  •  Jenkins  •  Ansible  •  Terraform  •  GitHub Actions  •  Prometheus  •  Grafana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Salaries (USA, 2024)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Trends 2024–2025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005840"/>
            <a:ext cx="9601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HOT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Midjourney, Copilot. AI tools are entering every profession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51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039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serverless, containers as the standard for all companies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1005840"/>
            <a:ext cx="9601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HOT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039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security paradigm: never trust, always verify every access request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69748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108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675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/ No-Code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that let anyone build apps without deep coding knowledge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9748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108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91840" y="3675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&amp; Blockchain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Decentralisation, smart contracts, DeFi, NFTs and digital assets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9748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3063240"/>
            <a:ext cx="9601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063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HOT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3108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17920" y="3675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on-device — IoT, autonomous vehicles, smart cities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0" y="2743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743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2743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743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2743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09728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09728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109728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09728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09728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92024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92024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92024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92024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92024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274320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74320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274320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74320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4320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356616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56616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356616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356616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356616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43891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3891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43891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43891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4389120"/>
            <a:ext cx="82296" cy="82296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7315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Your IT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Journey Today!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457200" y="2560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more than a career. It is a way of thinking,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to solve any problem, and the key to the future.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3657600"/>
            <a:ext cx="5303520" cy="292608"/>
          </a:xfrm>
          <a:prstGeom prst="rect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657600"/>
            <a:ext cx="32004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57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36576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direction (web, data, security...)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005072"/>
            <a:ext cx="5303520" cy="292608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005072"/>
            <a:ext cx="320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050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" y="40050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on freeCodeCamp, Coursera or Udemy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352544"/>
            <a:ext cx="5303520" cy="29260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352544"/>
            <a:ext cx="3200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3525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7240" y="435254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100 lines of code this week!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belongs to those who build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</dc:title>
  <dc:subject>PptxGenJS Presentation</dc:subject>
  <dc:creator>PptxGenJS</dc:creator>
  <cp:lastModifiedBy>PptxGenJS</cp:lastModifiedBy>
  <cp:revision>1</cp:revision>
  <dcterms:created xsi:type="dcterms:W3CDTF">2026-04-23T20:35:35Z</dcterms:created>
  <dcterms:modified xsi:type="dcterms:W3CDTF">2026-04-23T20:35:35Z</dcterms:modified>
</cp:coreProperties>
</file>